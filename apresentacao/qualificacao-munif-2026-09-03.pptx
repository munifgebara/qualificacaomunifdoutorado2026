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min] Cumprimentar a banca e apresentar o tema em uma frase: esta pesquisa investiga se dá para analisar software olhando para a forma do código, e não para o texto do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 s] Anunciar a estrutura. Avisar que os resultados preliminares vêm na segunda metade.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min] Estabelecer o cenário. O ponto é que a primeira camada de análise é cara de reproduzir em ecossistemas heterogêneos.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Esta é a barreira que distingue a proposta. Enfatizar: não é privacidade de pessoas, é propriedade intelectual de organizações.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min] Ler a tensão devagar. Ela justifica tudo o que vem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Mostrar a figura e dizer o essencial: a transformação é determinística, por caractere, e não olha para a sintaxe da linguagem.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Este é o argumento conceitual central da tese. Se a banca comprar estas duas ideias, o resto é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Apontar que a supressão é por construção: o minimapa já nasce anonimizado, antes de sair da máquina do desenvolvedor.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 Deixar claro que a lacuna é da representação, não da tarefa. É o argumento de originalidade mais forte.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Enunciar a hipótese e, sem pressa, as fronteiras. Declarar limite antes da pergunta desarma boa parte da arguição.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RQ1 e RQ2 tratam de viabilidade e capacidade de modelagem; RQ3, de transparência; RQ4, da confidencialidade; RQ5, da passagem do experimento à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min] Passar rápido: os objetivos específicos espelham as atividades do plano de pesquisa.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Percorrer as quatro fases da figura. Destacar a modularidade: é o que permite trocar o nível de anonimização sem refazer o 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Antecipar a pergunta da banca sobre vazamento: a taxonomia está no documento e a limitação do Estudo 2 é assumida adiante.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Explicar por que LBP é escolha razoável: o sinal do minimapa é textura (indentação, fim de linha, pontuação), não objeto com fronteira semântica.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 O resultado importa menos pelo número e mais pelo que ele mostra: há sinal discriminativo na textura antes de qualquer aprendizado profundo. Assumir: split único, sem estimativa de variância.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O ponto da escala: deixa de ser 'separo poucas classes distintas' e passa a ser 'a informação sobrevive em muitos repositórios e ecossistemas'. E entra o desbalanceamento severo.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 Slide deliberadamente autocrítico. Dizer as três ressalvas em voz alta vale mais do que ser pego nelas na arguição.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A explicabilidade aqui não é enfeite: ela é o que expõe o risco de o modelo estar aprendendo artefato de dataset em vez de estrutura de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Explicar por que o pareamento é possível e por que ele importa: testes pareados são muito mais sensíveis do que comparar execuções independentes.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O ponto metodológico forte: margem declarada antes de rodar, e a distinção entre não detectar diferença e demonstrar equivalência.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 O resultado mais forte do documento. Dizer com clareza: não é que as duas representações sejam indistinguíveis; é que a diferença é pequena e, aqui, levemente favorável à anonimizada.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As duas medidas juntas dizem o que nenhuma diz sozinha. Este é o slide para pausar antes de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Enfatizar o princípio de projeto: a proteção começa na coleta. Ser explícito sobre o placeholder de qualidade.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Separar com clareza validação funcional de avaliação de usabilidade. A distinção aparece no documento e a banca costuma cobrar.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min] Três trabalhos concluídos, dois alvos declarados. Mencionar que o periódico atende à exigência de publicação do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 Não apressar este slide. Enunciar limitação com precisão é o que separa proposta madura de proposta otimista.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 min] Cada atividade responde a uma limitação do slide anterior. Vale dizer isso explicitamente: o plano não é lista de desejos, é resposta ao que faltou.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[~1,5 min] Destacar que a escrita foi colocada antes da partida e depois do retorno: o período no exterior recebe só o trabalho experimental que depende do grupo anfitrião.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min] Fechar com a frase-síntese e abrir para a arguição.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737360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3"/>
                </a:solidFill>
                <a:latin typeface="Calibri"/>
              </a:rPr>
              <a:t>Minimapas de Código-Fonte como Abordagem Visual</a:t>
            </a:r>
          </a:p>
          <a:p>
            <a:r>
              <a:rPr sz="3400" b="1" i="0">
                <a:solidFill>
                  <a:srgbClr val="1F2933"/>
                </a:solidFill>
                <a:latin typeface="Calibri"/>
              </a:rPr>
              <a:t>para Análise de Software Baseada em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1188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Exame de Qualificação de Doutorado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343400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</a:rPr>
              <a:t>Munif Gebara Junior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33383D"/>
                </a:solidFill>
                <a:latin typeface="Calibri"/>
              </a:rPr>
              <a:t>Orientador: Prof. Dr. Yandre Maldonado e Gomes da Costa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33383D"/>
                </a:solidFill>
                <a:latin typeface="Calibri"/>
              </a:rPr>
              <a:t>Coorientadores: Prof. Dr. Igor Scaliante Wiese  ·  Prof. Dr. André F. R. Cordeiro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33383D"/>
                </a:solidFill>
                <a:latin typeface="Calibri"/>
              </a:rPr>
              <a:t>Programa de Pós-Graduação em Ciência da Computação  ·  Universidade Estadual de Maringá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33383D"/>
                </a:solidFill>
                <a:latin typeface="Calibri"/>
              </a:rPr>
              <a:t>Maringá, 3 de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Roteiro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sz="1800" b="0" i="0">
                <a:solidFill>
                  <a:srgbClr val="33383D"/>
                </a:solidFill>
                <a:latin typeface="Calibri"/>
              </a:rPr>
              <a:t>O problema: escala, heterogeneidade e confidencialidade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sz="1800" b="0" i="0">
                <a:solidFill>
                  <a:srgbClr val="33383D"/>
                </a:solidFill>
                <a:latin typeface="Calibri"/>
              </a:rPr>
              <a:t>A proposta: minimapas como assinaturas visuais anonimizadas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sz="1800" b="0" i="0">
                <a:solidFill>
                  <a:srgbClr val="33383D"/>
                </a:solidFill>
                <a:latin typeface="Calibri"/>
              </a:rPr>
              <a:t>Lacuna na literatura e posicionamento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sz="1800" b="0" i="0">
                <a:solidFill>
                  <a:srgbClr val="33383D"/>
                </a:solidFill>
                <a:latin typeface="Calibri"/>
              </a:rPr>
              <a:t>Hipótese, questões de pesquisa e objetivos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sz="1800" b="0" i="0">
                <a:solidFill>
                  <a:srgbClr val="33383D"/>
                </a:solidFill>
                <a:latin typeface="Calibri"/>
              </a:rPr>
              <a:t>Metodologia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sz="1800" b="0" i="0">
                <a:solidFill>
                  <a:srgbClr val="33383D"/>
                </a:solidFill>
                <a:latin typeface="Calibri"/>
              </a:rPr>
              <a:t>Três estudos concluídos e a ferramenta MinimapSignatures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sz="1800" b="0" i="0">
                <a:solidFill>
                  <a:srgbClr val="33383D"/>
                </a:solidFill>
                <a:latin typeface="Calibri"/>
              </a:rPr>
              <a:t>Limitações, plano de pesquisa e 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Software moderno é grande, heterogêneo e difícil de analisar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Um único produto combina várias linguagens, frameworks, arquivos gerados, configuração, scripts, testes e infraestrutura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Compreensão de programas é atividade central da manutenção: localizar artefatos, reconhecer responsabilidades, avaliar conformidade com as convenções do projeto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Análise estática e visualização ajudam, mas costumam exigir parsers, gramáticas, regras e configuração especializada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Representações de código para aprendizado de máquina são poderosas, porém dependem de tokenizadores, árvores sintáticas ou grandes corpora de pré-treinamento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A BARREIRA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O código-fonte carrega informação estratégica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Identificadores, constantes numéricas, fórmulas e comentários codificam regras de negócio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A maioria das representações para aprendizado de máquina retém exatamente essa camada lexical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Enviar o arquivo a um serviço externo de análise expõe propriedade intelectual — motivo suficiente para uma organização descartar a ferramenta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77639"/>
            <a:ext cx="77904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0F6E56"/>
                </a:solidFill>
                <a:latin typeface="Calibri"/>
              </a:rPr>
              <a:t>profitMargin = grossRevenue * 0.2345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777D83"/>
                </a:solidFill>
                <a:latin typeface="Calibri"/>
              </a:rPr>
              <a:t>Quem lê o identificador e a constante juntos infere o cálculo interno da empresa.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FORMULAÇÃO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27145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 i="0">
                <a:solidFill>
                  <a:srgbClr val="1F2933"/>
                </a:solidFill>
                <a:latin typeface="Calibri"/>
              </a:rPr>
              <a:t>Projetos de software contêm sinais estruturais e estilísticos úteis para classificação, compreensão, avaliação de qualidade e apoio ferramental — mas as representações existentes ou exigem processamento específico de linguagem, ou retêm o conteúdo lexical que expõe lógica de negócio, constantes proprietárias e conhecimento estratégico de domínio.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754880"/>
            <a:ext cx="102714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33383D"/>
                </a:solidFill>
                <a:latin typeface="Calibri"/>
              </a:rPr>
              <a:t>A pergunta que segue: uma representação visual do arquivo pode servir de abstração intermediária — simples de gerar em muitas linguagens, compacta, discriminativa e capaz de suprimir o léxico?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A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Minimapas de código-fonte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Cada caractere vira um pixel; cada linha, uma fileira da imagem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A imagem preserva indentação, comprimento de linha, densidade de pontuação e organização em blocos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Inspirado no minimapa que os editores já exibem — mas produzido para ser lido por um modelo</a:t>
            </a:r>
          </a:p>
        </p:txBody>
      </p:sp>
      <p:pic>
        <p:nvPicPr>
          <p:cNvPr id="5" name="Picture 4" descr="minimap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794760"/>
            <a:ext cx="5577840" cy="18955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91840" y="598932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77D83"/>
                </a:solidFill>
                <a:latin typeface="Calibri"/>
              </a:rPr>
              <a:t>Do arquivo-fonte ao minimapa: a mesma geometria, sem o 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FUNDAMENTO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Duas mudanças de representação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977243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0F6E56"/>
                </a:solidFill>
                <a:latin typeface="Calibri"/>
              </a:rPr>
              <a:t>1.  De uma para duas dimensões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33383D"/>
                </a:solidFill>
                <a:latin typeface="Calibri"/>
              </a:rPr>
              <a:t>O código é armazenado e analisado como sequência linear de caracteres ou tokens.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33383D"/>
                </a:solidFill>
                <a:latin typeface="Calibri"/>
              </a:rPr>
              <a:t>O desenvolvedor, porém, escreve e lê uma página bidimensional: a indentação forma contornos, os blocos têm forma, as linhas em branco criam ritmo.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33383D"/>
                </a:solidFill>
                <a:latin typeface="Calibri"/>
              </a:rPr>
              <a:t>O minimapa devolve essa segunda dimensão, que o modelo de sequência trata como espaço em branco incidental.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8651" y="1645920"/>
            <a:ext cx="4977243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0F6E56"/>
                </a:solidFill>
                <a:latin typeface="Calibri"/>
              </a:rPr>
              <a:t>2.  Do humano para a máquina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33383D"/>
                </a:solidFill>
                <a:latin typeface="Calibri"/>
              </a:rPr>
              <a:t>A visualização de software é historicamente projetada para inspeção humana.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33383D"/>
                </a:solidFill>
                <a:latin typeface="Calibri"/>
              </a:rPr>
              <a:t>Aqui a imagem é insumo de modelo: compacta, reprodutível e discriminativa, não expressiva e interativa.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33383D"/>
                </a:solidFill>
                <a:latin typeface="Calibri"/>
              </a:rPr>
              <a:t>O humano volta ao circuito no nível das predições e das explicações, não da figura.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ANONIMIZAÇÃO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A anonimização é parte da representação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77724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1188720"/>
                <a:gridCol w="82296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Classe de caractere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Faixa ASCII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Pixel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Efeito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Controle e espaços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&lt; 32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Preserva indentação e linhas em branco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Dígitos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48–57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Suprime literais numéricos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Maiúsculas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65–90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Suprime identificadores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Minúsculas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97–122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Suprime identificadores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Demais imprimíveis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restante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ASCII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Preserva operadores e delimitadores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anony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148840"/>
            <a:ext cx="2651760" cy="16370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400" y="38862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77D83"/>
                </a:solidFill>
                <a:latin typeface="Calibri"/>
              </a:rPr>
              <a:t>Antes e depois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920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F2933"/>
                </a:solidFill>
                <a:latin typeface="Calibri"/>
              </a:rPr>
              <a:t>Identificadores, literais e comentários desaparecem. Indentação, pontuação, operadores e organização em blocos permanecem.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LACUNA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Mapeamento da literatura: 56 estudos selecionados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Cinco bibliotecas digitais: IEEE Xplore, ACM DL, Scopus, SpringerLink e Google Scholar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Triagem em estágios: 270 candidatos → 155 → 96 → 56 estudos; dois revisores, triagem cega no Rayyan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Famílias: visualização de software · representações para aprendizado de máquina · código como dado visual · qualidade e code smells · explicabilidade · apoio ferramental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31920"/>
            <a:ext cx="1082009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6E56"/>
                </a:solidFill>
                <a:latin typeface="Calibri"/>
              </a:rPr>
              <a:t>A lacuna central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33383D"/>
                </a:solidFill>
                <a:latin typeface="Calibri"/>
              </a:rPr>
              <a:t>O mapeamento não identificou representação de código projetada para suprimir conteúdo lexical proprietário e, ainda assim, permanecer útil como entrada de aprendizado de máquina. Ofuscação protege o binário entregue; varredura de segredos remove credenciais; aprendizado federado protege o dado no protocolo — nenhum atua na representação.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HIPÓTESE E FRONTEIRAS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Hipótese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1027145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1F2933"/>
                </a:solidFill>
                <a:latin typeface="Calibri"/>
              </a:rPr>
              <a:t>Minimapas anonimizados de código-fonte, entendidos como projeções bidimensionais destinadas ao consumo por máquina, preservam informação estrutural e visual suficiente para sustentar análise de software escalável e independente de linguagem, reduzindo a dependência de parsers e de regras definidas por especialistas.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49039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Três fronteiras declaradas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Não substitui análise semântica: significado depende de construções, dependências e domínio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Não é garantia formal de privacidade: é supressão da camada lexical que carrega propriedade intelectual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Não é representação única para toda a engenharia de software: é a primeira camada de uma família de tarefas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CINCO PERGUNTAS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Questões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RQ1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98599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33383D"/>
                </a:solidFill>
                <a:latin typeface="Calibri"/>
              </a:rPr>
              <a:t>Em que medida minimapas preservam pistas estruturais discriminativas para classificar artefatos entre linguagens?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RQ2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560320"/>
            <a:ext cx="98599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33383D"/>
                </a:solidFill>
                <a:latin typeface="Calibri"/>
              </a:rPr>
              <a:t>Como descritores de textura artesanais se comparam a representações visuais aprendidas?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RQ3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474720"/>
            <a:ext cx="98599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33383D"/>
                </a:solidFill>
                <a:latin typeface="Calibri"/>
              </a:rPr>
              <a:t>Quais regiões visuais os modelos usam, e como a IA explicável apoia a interpretação dessas decisões?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891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RQ4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389120"/>
            <a:ext cx="98599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33383D"/>
                </a:solidFill>
                <a:latin typeface="Calibri"/>
              </a:rPr>
              <a:t>Como a anonimização afeta o equilíbrio entre confidencialidade e desempenho preditivo?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035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RQ5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303520"/>
            <a:ext cx="98599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33383D"/>
                </a:solidFill>
                <a:latin typeface="Calibri"/>
              </a:rPr>
              <a:t>Como integrar a análise por minimapas ao fluxo de trabalho real em IDEs?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GERAL E ESPECÍFICOS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F2933"/>
                </a:solidFill>
                <a:latin typeface="Calibri"/>
              </a:rPr>
              <a:t>Objetivo geral: definir, avaliar e operacionalizar uma abordagem de minimapas de código-fonte para análise visual de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10820095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Definir método reprodutível de geração de minimapas a partir de repositórios heterogêneos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Projetar e avaliar estratégias de anonimização que suprimam o léxico preservando pistas estruturais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Construir datasets e catálogos que sustentem aprendizado supervisionado sobre minimapas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Comparar descritores de textura artesanais e modelos visuais profundos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Investigar IA explicável para identificar as regiões que sustentam as predições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Desenvolver apoio ferramental integrado ao ambiente de desenvolvimento</a:t>
            </a:r>
          </a:p>
          <a:p>
            <a:pPr marL="228600" indent="-228600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Estender a avaliação rumo a qualidade, code smells e desvio arquitetural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Metodologia: um pipeline modular</a:t>
            </a:r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10817352" cy="3325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39496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33383D"/>
                </a:solidFill>
                <a:latin typeface="Calibri"/>
              </a:rPr>
              <a:t>Seleção e descoberta de arquivos  →  anonimização  →  renderização  →  catálogo  →  treinamento e avaliação  →  interpretação e integração à IDE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777D83"/>
                </a:solidFill>
                <a:latin typeface="Calibri"/>
              </a:rPr>
              <a:t>Cada etapa roda isolada: a geração não exige treinamento, o mesmo catálogo serve a vários objetivos e o modelo treinado vale tanto no experimento quanto na inferência dentro da 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Catálogo e controle de vazamento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8544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0F6E56"/>
                </a:solidFill>
                <a:latin typeface="Calibri"/>
              </a:rPr>
              <a:t>O catálogo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Identificador do artefato e do repositório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Caminho relativo hasheado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Extensão ou tipo inferido e linguagem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Rótulo de autor ou committer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Partição de treino, validação ou teste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Modo de anonimização aplicado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0450" y="1645920"/>
            <a:ext cx="508544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0F6E56"/>
                </a:solidFill>
                <a:latin typeface="Calibri"/>
              </a:rPr>
              <a:t>Três estratégias de partição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Estratificada por arquivo — útil no desenvolvimento inicial, vulnerável a vazamento entre repositórios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Ciente de repositório — necessária para afirmar generalização entre projetos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Temporal — simula prever o futuro a partir do passado, exige metadado histórico confiável</a:t>
            </a:r>
          </a:p>
          <a:p>
            <a:pPr>
              <a:spcBef>
                <a:spcPts val="1200"/>
              </a:spcBef>
            </a:pPr>
            <a:r>
              <a:rPr sz="1400" b="0" i="0">
                <a:solidFill>
                  <a:srgbClr val="777D83"/>
                </a:solidFill>
                <a:latin typeface="Calibri"/>
              </a:rPr>
              <a:t>Controle: hash de conteúdo, remoção de duplicatas e marcação de arquivos gerados.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ESTUDO 1  ·  IWSSIP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Estudo 1: descritores de textura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Corpus: dois sistemas proprietários sob acordo de confidencialidade — um ERP industrial e um sistema do governo federal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42.820 minimapas em 28 classes; recorte controlado com 7 classes e 1.000 amostras cada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Descritor: Local Binary Patterns (8 vizinhos, raio 2, uniforme não rotacional) → histograma de 59 bins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Classificadores: K-vizinhos, Random Forest e SVM; variantes de tamanho fixo (128×128) e variável</a:t>
            </a:r>
          </a:p>
        </p:txBody>
      </p:sp>
      <p:pic>
        <p:nvPicPr>
          <p:cNvPr id="5" name="Picture 4" descr="l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114800"/>
            <a:ext cx="4297680" cy="1279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58064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77D83"/>
                </a:solidFill>
                <a:latin typeface="Calibri"/>
              </a:rPr>
              <a:t>O operador LBP: cada pixel vira um código binário da sua vizinhança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ESTUDO 1  · 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Estudo 1: minimapas já separam classes sem parser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37360"/>
          <a:ext cx="45720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371600"/>
                <a:gridCol w="11887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Classificador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Tamanho variável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Tamanho fixo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K-vizinhos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0,79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0,78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0,93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0,93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0,89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0,88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9476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383D"/>
                </a:solidFill>
                <a:latin typeface="Calibri"/>
              </a:rPr>
              <a:t>Acurácia no conjunto de teste; a métrica única é a que o artigo reporta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383D"/>
                </a:solidFill>
                <a:latin typeface="Calibri"/>
              </a:rPr>
              <a:t>Random Forest chega a ~93% sem qualquer análise de linguagem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383D"/>
                </a:solidFill>
                <a:latin typeface="Calibri"/>
              </a:rPr>
              <a:t>O tamanho fixo custa no máximo um ponto — viabiliza as redes convolucionais</a:t>
            </a:r>
          </a:p>
        </p:txBody>
      </p:sp>
      <p:pic>
        <p:nvPicPr>
          <p:cNvPr id="6" name="Picture 5" descr="confusion-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94560"/>
            <a:ext cx="5852160" cy="2419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475488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77D83"/>
                </a:solidFill>
                <a:latin typeface="Calibri"/>
              </a:rPr>
              <a:t>Matrizes de confusão do Random Forest: JSON e SVG separam bem; classes Java se confundem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ESTUDO 2  ·  CIARP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Estudo 2: a abordagem em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5410047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685.906 minimapas de 100 projetos de código aberto em 10 linguagens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63 classes de Tipo, 99 de Projeto e 97 de Autor; imagens 128×128 em escala de cinza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ResNet-18 e EfficientNet-B0, do zero e com pré-treinamento ImageNet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Sem aumento de dados; parada antecipada; sementes fixas</a:t>
            </a:r>
          </a:p>
        </p:txBody>
      </p:sp>
      <p:pic>
        <p:nvPicPr>
          <p:cNvPr id="5" name="Picture 4" descr="dist-type-to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12064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6692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77D83"/>
                </a:solidFill>
                <a:latin typeface="Calibri"/>
              </a:rPr>
              <a:t>Distribuição das classes de Tipo mais frequentes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ESTUDO 2  · 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Estudo 2: resultados e o que eles não dizem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694944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Objetivo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Acurácia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ROC-AUC macro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ROC-AUC micro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0,9333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≥ 0,99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≥ 0,99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Projeto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0,8604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≥ 0,99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≥ 0,99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Autor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0,8705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≥ 0,99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33383D"/>
                          </a:solidFill>
                          <a:latin typeface="Calibri"/>
                        </a:rPr>
                        <a:t>≥ 0,99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4290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77D83"/>
                </a:solidFill>
                <a:latin typeface="Calibri"/>
              </a:rPr>
              <a:t>EfficientNet-B0 com pré-treinamento ImageNet, partição de validação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Três ressalvas que faço antes que a banca faça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sz="1400" b="0" i="0">
                <a:solidFill>
                  <a:srgbClr val="33383D"/>
                </a:solidFill>
                <a:latin typeface="Calibri"/>
              </a:rPr>
              <a:t>Com ~100 classes avaliadas um-contra-resto, o ROC-AUC é dominado por negativos fáceis: AUC alto indica separabilidade, não decisão confiável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sz="1400" b="0" i="0">
                <a:solidFill>
                  <a:srgbClr val="33383D"/>
                </a:solidFill>
                <a:latin typeface="Calibri"/>
              </a:rPr>
              <a:t>A partição não é disjunta por repositório — para Tipo e Autor, o resultado é validação intra-corpus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sz="1400" b="0" i="0">
                <a:solidFill>
                  <a:srgbClr val="33383D"/>
                </a:solidFill>
                <a:latin typeface="Calibri"/>
              </a:rPr>
              <a:t>Macro-F1, recall por classe e resultados de teste ainda precisam ser consolidados; o pipeline já os produz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EXPLICABILIDADE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O que os modelos olham</a:t>
            </a:r>
          </a:p>
        </p:txBody>
      </p:sp>
      <p:pic>
        <p:nvPicPr>
          <p:cNvPr id="4" name="Picture 3" descr="x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10817352" cy="2559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434840"/>
            <a:ext cx="1082009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777D83"/>
                </a:solidFill>
                <a:latin typeface="Calibri"/>
              </a:rPr>
              <a:t>Integrated Gradients, 32 passos, baseline cinza médio, atribuição para a classe predita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Tipo: bandas estruturais, regiões de indentação e padrões de delimitadores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Projeto: convenções do repositório, cabeçalhos, trechos gerados e boilerplate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Autor: atribuição difusa — o estilo é distribuído e difícil de localizar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777D83"/>
                </a:solidFill>
                <a:latin typeface="Calibri"/>
              </a:rPr>
              <a:t>Serve também de alerta: se Projeto depende de boilerplate, pode não generalizar para repositórios com outros modelos de arquivo.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ESTUDO 3  ·  A PERGUNTA CRÍTICA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A anonimização custa desempenho?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Toda a afirmação de confidencialidade da tese depende desta resposta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Até recentemente ela vinha de uma única comparação informal, não documentada — insuficiente para sustentar o argumento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O método oferece uma comparação incomumente limpa: a anonimização é um mapeamento determinístico por caractere, aplicado na renderização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O mesmo arquivo é renderizado duas vezes: mesmas dimensões, mesmo layout, mesmo rótulo — muda apenas o alfabeto de intensidades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33383D"/>
                </a:solidFill>
                <a:latin typeface="Calibri"/>
              </a:rPr>
              <a:t>As duas versões saem na mesma passada, o que garante pareamento instância a instância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ESTUDO 3  · 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Desenho do experimento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508544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0F6E56"/>
                </a:solidFill>
                <a:latin typeface="Calibri"/>
              </a:rPr>
              <a:t>Configuração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Corpus: sistema do governo federal, versão mais recente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12 classes por convenção de nomenclatura; 10.923 pares de minimapas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Descritor LBP de 59 bins e Random Forest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Validação cruzada estratificada 10 × 5, com os mesmos splits para as duas representações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0450" y="1691640"/>
            <a:ext cx="508544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0F6E56"/>
                </a:solidFill>
                <a:latin typeface="Calibri"/>
              </a:rPr>
              <a:t>Duas perguntas, dois testes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Existe diferença detectável? Teste t pareado com correção de Nadeau–Bengio e teste de McNemar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A diferença é pequena o bastante para ser irrelevante? TOST contra margem declarada antes do experimento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Margem de equivalência: dois pontos percentuais de acurácia</a:t>
            </a:r>
          </a:p>
          <a:p>
            <a:pPr>
              <a:spcBef>
                <a:spcPts val="1200"/>
              </a:spcBef>
            </a:pPr>
            <a:r>
              <a:rPr sz="1400" b="0" i="1">
                <a:solidFill>
                  <a:srgbClr val="777D83"/>
                </a:solidFill>
                <a:latin typeface="Calibri"/>
              </a:rPr>
              <a:t>Ausência de diferença significativa não estabelece equivalência: pode ser apenas falta de poder.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ESTUDO 3  · 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A anonimização não custou acurácia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676656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Medida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383D"/>
                          </a:solidFill>
                          <a:latin typeface="Calibri"/>
                        </a:rPr>
                        <a:t>Acurácia, renderização original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83D"/>
                          </a:solidFill>
                          <a:latin typeface="Calibri"/>
                        </a:rPr>
                        <a:t>0,8015 ± 0,0069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383D"/>
                          </a:solidFill>
                          <a:latin typeface="Calibri"/>
                        </a:rPr>
                        <a:t>Acurácia, renderização anonimizada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83D"/>
                          </a:solidFill>
                          <a:latin typeface="Calibri"/>
                        </a:rPr>
                        <a:t>0,8076 ± 0,0063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383D"/>
                          </a:solidFill>
                          <a:latin typeface="Calibri"/>
                        </a:rPr>
                        <a:t>Diferença (original − anonimizada)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83D"/>
                          </a:solidFill>
                          <a:latin typeface="Calibri"/>
                        </a:rPr>
                        <a:t>−0,0060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383D"/>
                          </a:solidFill>
                          <a:latin typeface="Calibri"/>
                        </a:rPr>
                        <a:t>Intervalo de confiança de 95%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83D"/>
                          </a:solidFill>
                          <a:latin typeface="Calibri"/>
                        </a:rPr>
                        <a:t>[−0,0123 ; +0,0003]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383D"/>
                          </a:solidFill>
                          <a:latin typeface="Calibri"/>
                        </a:rPr>
                        <a:t>Teste de diferença (t pareado corrigido)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83D"/>
                          </a:solidFill>
                          <a:latin typeface="Calibri"/>
                        </a:rPr>
                        <a:t>p = 0,060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383D"/>
                          </a:solidFill>
                          <a:latin typeface="Calibri"/>
                        </a:rPr>
                        <a:t>Equivalência em ±2 p.p. (TOST)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83D"/>
                          </a:solidFill>
                          <a:latin typeface="Calibri"/>
                        </a:rPr>
                        <a:t>p = 2,4 × 10⁻⁵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920240"/>
            <a:ext cx="374903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F6E56"/>
                </a:solidFill>
                <a:latin typeface="Calibri"/>
              </a:rPr>
              <a:t>Leitura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300" b="0" i="0">
                <a:solidFill>
                  <a:srgbClr val="33383D"/>
                </a:solidFill>
                <a:latin typeface="Calibri"/>
              </a:rPr>
              <a:t>O ponto estimado favorece a versão anonimizada em 0,6 p.p.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300" b="0" i="0">
                <a:solidFill>
                  <a:srgbClr val="33383D"/>
                </a:solidFill>
                <a:latin typeface="Calibri"/>
              </a:rPr>
              <a:t>O limite superior do intervalo coloca a maior perda compatível com os dados em praticamente zero</a:t>
            </a:r>
          </a:p>
          <a:p>
            <a:pPr marL="228600" indent="-228600">
              <a:spcBef>
                <a:spcPts val="900"/>
              </a:spcBef>
              <a:buFont typeface="Arial"/>
              <a:buChar char="•"/>
            </a:pPr>
            <a:r>
              <a:rPr sz="1300" b="0" i="0">
                <a:solidFill>
                  <a:srgbClr val="33383D"/>
                </a:solidFill>
                <a:latin typeface="Calibri"/>
              </a:rPr>
              <a:t>McNemar detecta diferença em 6 das 10 repetições, sempre na mesma direção: 5.239 acertos exclusivos da versão anonimizada contra 4.580 da original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ESTUDO 3  ·  MEDIDA DIRETA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E o que exatamente a transformação remove?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410047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12,3 milhões de caracteres do mesmo corpus, medidos sem treinar nada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Alfabeto: 152 → 37 intensidades distintas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Entropia por pixel: 5,444 → 2,358 bits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Redução de 56,7% da informação por pixel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Apenas 25,9% dos caracteres passam intactos — exatamente pontuação, delimitadores e operadores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Varia por tipo: 62,6% em Java, 48,0% em SVG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852" y="2103120"/>
            <a:ext cx="4869042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 i="0">
                <a:solidFill>
                  <a:srgbClr val="0F6E56"/>
                </a:solidFill>
                <a:latin typeface="Calibri"/>
              </a:rPr>
              <a:t>−56,7%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F2933"/>
                </a:solidFill>
                <a:latin typeface="Calibri"/>
              </a:rPr>
              <a:t>da entropia por pixel é descartada</a:t>
            </a:r>
          </a:p>
          <a:p>
            <a:pPr>
              <a:spcBef>
                <a:spcPts val="18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</a:rPr>
              <a:t>e a acurácia não cai.</a:t>
            </a:r>
          </a:p>
          <a:p>
            <a:pPr>
              <a:spcBef>
                <a:spcPts val="1400"/>
              </a:spcBef>
            </a:pPr>
            <a:r>
              <a:rPr sz="1500" b="0" i="0">
                <a:solidFill>
                  <a:srgbClr val="33383D"/>
                </a:solidFill>
                <a:latin typeface="Calibri"/>
              </a:rPr>
              <a:t>É a evidência de que o sinal discriminativo do minimapa é estrutural, e não lexical.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FERRAMENTA  ·  SBES-TOOLS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MinimapSignatures: a abordagem dentro da IDE</a:t>
            </a:r>
          </a:p>
        </p:txBody>
      </p:sp>
      <p:pic>
        <p:nvPicPr>
          <p:cNvPr id="4" name="Picture 3" descr="minimapsignatures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37360"/>
            <a:ext cx="4846320" cy="36347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783080"/>
            <a:ext cx="57607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100"/>
              </a:spcAft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Backend em FastAPI e PyTorch; clientes para Visual Studio Code e IntelliJ IDEA</a:t>
            </a:r>
          </a:p>
          <a:p>
            <a:pPr marL="228600" indent="-228600">
              <a:spcAft>
                <a:spcPts val="1100"/>
              </a:spcAft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O minimapa é gerado no cliente: só a imagem anonimizada trafega, nunca o código-fonte</a:t>
            </a:r>
          </a:p>
          <a:p>
            <a:pPr marL="228600" indent="-228600">
              <a:spcAft>
                <a:spcPts val="1100"/>
              </a:spcAft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MultiTaskMinimapCNN: tronco convolucional compartilhado, embedding de 256 dimensões e três cabeças (Tipo, Projeto, Autor)</a:t>
            </a:r>
          </a:p>
          <a:p>
            <a:pPr marL="228600" indent="-228600">
              <a:spcAft>
                <a:spcPts val="1100"/>
              </a:spcAft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Contrato compartilhado entre clientes: novos IDEs bastam gerar o mesmo formato</a:t>
            </a:r>
          </a:p>
          <a:p>
            <a:pPr marL="228600" indent="-228600">
              <a:spcAft>
                <a:spcPts val="1100"/>
              </a:spcAft>
              <a:buFont typeface="Arial"/>
              <a:buChar char="•"/>
            </a:pPr>
            <a:r>
              <a:rPr sz="1500" b="0" i="0">
                <a:solidFill>
                  <a:srgbClr val="33383D"/>
                </a:solidFill>
                <a:latin typeface="Calibri"/>
              </a:rPr>
              <a:t>O alvo de qualidade existe no contrato como placeholder e devolve dado simulado — nenhum modelo foi treinado para ele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FERRAMENTA  · 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Validação funcional de ponta a ponta</a:t>
            </a:r>
          </a:p>
        </p:txBody>
      </p:sp>
      <p:pic>
        <p:nvPicPr>
          <p:cNvPr id="4" name="Picture 3" descr="vscode-plu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5349240" cy="28211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61772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77D83"/>
                </a:solidFill>
                <a:latin typeface="Calibri"/>
              </a:rPr>
              <a:t>Visual Studio Code: WebView com minimapa e predições</a:t>
            </a:r>
          </a:p>
        </p:txBody>
      </p:sp>
      <p:pic>
        <p:nvPicPr>
          <p:cNvPr id="6" name="Picture 5" descr="intellij-plu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83080"/>
            <a:ext cx="5166360" cy="33598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51663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77D83"/>
                </a:solidFill>
                <a:latin typeface="Calibri"/>
              </a:rPr>
              <a:t>IntelliJ IDEA: relatório em Markdown ao lado do arquivo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321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33383D"/>
                </a:solidFill>
                <a:latin typeface="Calibri"/>
              </a:rPr>
              <a:t>O que está validado: captura, geração local, anonimização, comunicação, inferência e retorno. O que não está: utilidade, confiança e efeito no trabalho do desenvolvedor — isso exige estudo com usuários.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RESULTADOS FORMAIS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Produção científica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81735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/>
                <a:gridCol w="3108960"/>
                <a:gridCol w="2221992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Trabalho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Veículo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Situação</a:t>
                      </a:r>
                    </a:p>
                  </a:txBody>
                  <a:tcPr marL="109728" marR="109728" marT="45720" marB="45720" anchor="ctr">
                    <a:solidFill>
                      <a:srgbClr val="1F29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Software Feature Detection Using Source Code Minimaps as Visual Signatures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IWSSIP 2025 (IEEE)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Publicado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Source Code Minimaps at Scale: Feature-Oriented Analysis of 100 Projects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CIARP 2025 (Springer, LNCS 16528)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Publicado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MinimapSignatures: A Multi-IDE Ecosystem for Analysis of Visual Source Code Signatures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SBES-Tools 2026 (CBSoft)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Aceito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Explicabilidade de representações visuais de código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VISAPP 2027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Planejado</a:t>
                      </a:r>
                    </a:p>
                  </a:txBody>
                  <a:tcPr marL="109728" marR="109728" marT="45720" marB="45720" anchor="ctr">
                    <a:solidFill>
                      <a:srgbClr val="F4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Estudo consolidado de análise visual com preservação de confidencialidade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Empirical Software Engineering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83D"/>
                          </a:solidFill>
                          <a:latin typeface="Calibri"/>
                        </a:rPr>
                        <a:t>Planejado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12064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33383D"/>
                </a:solidFill>
                <a:latin typeface="Calibri"/>
              </a:rPr>
              <a:t>A ablação pareada do Estudo 3 é resultado inédito, produzido para este documento e ainda não submetido.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HONESTIDADE METODOLÓGICA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Limitações que reconheço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20095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Estudo 1: corpus limitado, partição única e sem estimativa de variância; a métrica reportada é apenas acurácia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Estudo 2: desbalanceamento severo; partição não disjunta por repositório; macro-F1 e resultados de teste ainda não consolidados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Estudo 3: um sistema, um descritor, um classificador e um único objetivo — LBP pode ser cego justamente ao que a anonimização remove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O objetivo Autor é sonda metodológica, não ferramenta de atribuição: serve para mostrar que o estilo sobrevive à supressão lexical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A ferramenta está validada funcionalmente, não avaliada com desenvolvedores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Os estudos tratam de classificação; ranqueamento, detecção de anomalia e agrupamento seguem inexplorados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O QUE FALTA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Plano de pesquisa: seis atividades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645920"/>
            <a:ext cx="100885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2933"/>
                </a:solidFill>
                <a:latin typeface="Calibri"/>
              </a:rPr>
              <a:t>Curadoria do dataset  </a:t>
            </a:r>
            <a:r>
              <a:rPr sz="1400" b="0" i="0">
                <a:solidFill>
                  <a:srgbClr val="33383D"/>
                </a:solidFill>
                <a:latin typeface="Calibri"/>
              </a:rPr>
              <a:t>— higiene de rótulos, arquivos gerados, separação de bots e metadados de repositório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487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404872"/>
            <a:ext cx="100885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2933"/>
                </a:solidFill>
                <a:latin typeface="Calibri"/>
              </a:rPr>
              <a:t>Avaliação da anonimização  </a:t>
            </a:r>
            <a:r>
              <a:rPr sz="1400" b="0" i="0">
                <a:solidFill>
                  <a:srgbClr val="33383D"/>
                </a:solidFill>
                <a:latin typeface="Calibri"/>
              </a:rPr>
              <a:t>— replicar em corpus aberto, com redes profundas e nos três objetivos; cinco níveis de supressão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63824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A3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163824"/>
            <a:ext cx="100885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2933"/>
                </a:solidFill>
                <a:latin typeface="Calibri"/>
              </a:rPr>
              <a:t>Modelagem sensível a desbalanceamento  </a:t>
            </a:r>
            <a:r>
              <a:rPr sz="1400" b="0" i="0">
                <a:solidFill>
                  <a:srgbClr val="33383D"/>
                </a:solidFill>
                <a:latin typeface="Calibri"/>
              </a:rPr>
              <a:t>— pesos, amostragem balanceada, focal loss, ajuste de logits e calibração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22776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A4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922776"/>
            <a:ext cx="100885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2933"/>
                </a:solidFill>
                <a:latin typeface="Calibri"/>
              </a:rPr>
              <a:t>Multiescala e por região  </a:t>
            </a:r>
            <a:r>
              <a:rPr sz="1400" b="0" i="0">
                <a:solidFill>
                  <a:srgbClr val="33383D"/>
                </a:solidFill>
                <a:latin typeface="Calibri"/>
              </a:rPr>
              <a:t>— resoluções, patches, pirâmides e transformers; identificar trechos e não só o arquivo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81728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A5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681728"/>
            <a:ext cx="100885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2933"/>
                </a:solidFill>
                <a:latin typeface="Calibri"/>
              </a:rPr>
              <a:t>Qualidade e desvio arquitetural  </a:t>
            </a:r>
            <a:r>
              <a:rPr sz="1400" b="0" i="0">
                <a:solidFill>
                  <a:srgbClr val="33383D"/>
                </a:solidFill>
                <a:latin typeface="Calibri"/>
              </a:rPr>
              <a:t>— code smells, papel arquitetural, arquivos gerados e desvio de convenção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40680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F6E56"/>
                </a:solidFill>
                <a:latin typeface="Calibri"/>
              </a:rPr>
              <a:t>A6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440680"/>
            <a:ext cx="100885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2933"/>
                </a:solidFill>
                <a:latin typeface="Calibri"/>
              </a:rPr>
              <a:t>Avaliação da ferramenta  </a:t>
            </a:r>
            <a:r>
              <a:rPr sz="1400" b="0" i="0">
                <a:solidFill>
                  <a:srgbClr val="33383D"/>
                </a:solidFill>
                <a:latin typeface="Calibri"/>
              </a:rPr>
              <a:t>— tarefas controladas, entrevistas e observação; análise multiarquivo e sobreposição de explicações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18 MESES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Cronograma até a defesa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F2933"/>
                </a:solidFill>
                <a:latin typeface="Calibri"/>
              </a:rPr>
              <a:t>Jul – ago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91640"/>
            <a:ext cx="83054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33383D"/>
                </a:solidFill>
                <a:latin typeface="Calibri"/>
              </a:rPr>
              <a:t>Replicar a ablação A2 no corpus aberto; refinar o catálogo (A1)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000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F2933"/>
                </a:solidFill>
                <a:latin typeface="Calibri"/>
              </a:rPr>
              <a:t>Set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350008"/>
            <a:ext cx="83054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33383D"/>
                </a:solidFill>
                <a:latin typeface="Calibri"/>
              </a:rPr>
              <a:t>Qualificação em 3 de setembro; incorporar o retorno da banca; submeter ao VISAPP; organizar o estágio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08376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F6E56"/>
                </a:solidFill>
                <a:latin typeface="Calibri"/>
              </a:rPr>
              <a:t>Out 2026 – fev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008376"/>
            <a:ext cx="83054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33383D"/>
                </a:solidFill>
                <a:latin typeface="Calibri"/>
              </a:rPr>
              <a:t>Estágio PDSE na Universidad Rey Juan Carlos (Madri): A1, A3, A4 e protocolos de explicação; VISAPP em fevereiro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66744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F2933"/>
                </a:solidFill>
                <a:latin typeface="Calibri"/>
              </a:rPr>
              <a:t>Mar – mai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66744"/>
            <a:ext cx="83054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33383D"/>
                </a:solidFill>
                <a:latin typeface="Calibri"/>
              </a:rPr>
              <a:t>Avaliação disjunta por repositório; consolidar teste e métricas por classe; iniciar a escrita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2511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F2933"/>
                </a:solidFill>
                <a:latin typeface="Calibri"/>
              </a:rPr>
              <a:t>Jun – ago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325112"/>
            <a:ext cx="83054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33383D"/>
                </a:solidFill>
                <a:latin typeface="Calibri"/>
              </a:rPr>
              <a:t>Piloto de qualidade (A5); estender a ferramenta; submeter à Empirical Software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83479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F2933"/>
                </a:solidFill>
                <a:latin typeface="Calibri"/>
              </a:rPr>
              <a:t>Set – out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983479"/>
            <a:ext cx="83054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33383D"/>
                </a:solidFill>
                <a:latin typeface="Calibri"/>
              </a:rPr>
              <a:t>Avaliação com desenvolvedores (A6); seguir escrevendo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41847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F2933"/>
                </a:solidFill>
                <a:latin typeface="Calibri"/>
              </a:rPr>
              <a:t>Nov – dez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641847"/>
            <a:ext cx="83054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33383D"/>
                </a:solidFill>
                <a:latin typeface="Calibri"/>
              </a:rPr>
              <a:t>Consolidar resultados, fechar o texto, preparar artefatos e a defesa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Contribuições esperadas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1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Metodologia reprodutível para análise visual de código com preservação de confidencialidade</a:t>
            </a:r>
          </a:p>
          <a:p>
            <a:pPr marL="228600" indent="-228600">
              <a:spcAft>
                <a:spcPts val="11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Estudo de anonimização documentado, com curvas de compromisso entre supressão e desempenho</a:t>
            </a:r>
          </a:p>
          <a:p>
            <a:pPr marL="228600" indent="-228600">
              <a:spcAft>
                <a:spcPts val="11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Avaliação sob partições disjuntas por projeto</a:t>
            </a:r>
          </a:p>
          <a:p>
            <a:pPr marL="228600" indent="-228600">
              <a:spcAft>
                <a:spcPts val="11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Comparação sistemática entre descritores artesanais e representações aprendidas</a:t>
            </a:r>
          </a:p>
          <a:p>
            <a:pPr marL="228600" indent="-228600">
              <a:spcAft>
                <a:spcPts val="11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Protocolos de explicabilidade para representações visuais de código</a:t>
            </a:r>
          </a:p>
          <a:p>
            <a:pPr marL="228600" indent="-228600">
              <a:spcAft>
                <a:spcPts val="1100"/>
              </a:spcAft>
              <a:buFont typeface="Arial"/>
              <a:buChar char="•"/>
            </a:pPr>
            <a:r>
              <a:rPr sz="1600" b="0" i="0">
                <a:solidFill>
                  <a:srgbClr val="33383D"/>
                </a:solidFill>
                <a:latin typeface="Calibri"/>
              </a:rPr>
              <a:t>MinimapSignatures estendido, com análise multiarquivo e avaliação centrada no desenvolvedor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0640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1F2933"/>
                </a:solidFill>
                <a:latin typeface="Calibri"/>
              </a:rPr>
              <a:t>A tese sustenta que, para uma família de tarefas de análise de software, a forma da página basta — e o léxico pode ficar em casa.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0F6E56"/>
                </a:solidFill>
                <a:latin typeface="Calibri"/>
              </a:rPr>
              <a:t>Obrigado. 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77D83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